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charts/chart3.xml" ContentType="application/vnd.openxmlformats-officedocument.drawingml.chart+xml"/>
  <Override PartName="/ppt/notesSlides/notesSlide18.xml" ContentType="application/vnd.openxmlformats-officedocument.presentationml.notesSlide+xml"/>
  <Override PartName="/ppt/charts/chart4.xml" ContentType="application/vnd.openxmlformats-officedocument.drawingml.chart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73" r:id="rId10"/>
    <p:sldId id="275" r:id="rId11"/>
    <p:sldId id="274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6256000" cy="9144000"/>
  <p:notesSz cx="9144000" cy="16256000"/>
  <p:embeddedFontLst>
    <p:embeddedFont>
      <p:font typeface="Consolas" panose="020B0609020204030204" pitchFamily="49" charset="0"/>
      <p:regular r:id="rId22"/>
      <p:bold r:id="rId23"/>
      <p:italic r:id="rId24"/>
      <p:boldItalic r:id="rId25"/>
    </p:embeddedFont>
    <p:embeddedFont>
      <p:font typeface="Quattrocento Sans" panose="020B0502050000020003" pitchFamily="34" charset="0"/>
      <p:regular r:id="rId26"/>
      <p:bold r:id="rId27"/>
      <p:italic r:id="rId28"/>
      <p:boldItalic r:id="rId29"/>
    </p:embeddedFont>
    <p:embeddedFont>
      <p:font typeface="Trebuchet MS" panose="020B0603020202020204" pitchFamily="34" charset="0"/>
      <p:regular r:id="rId30"/>
      <p:bold r:id="rId31"/>
      <p:italic r:id="rId32"/>
      <p:bold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9E0B"/>
    <a:srgbClr val="698A6F"/>
    <a:srgbClr val="FA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8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Time (s)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BubbleV1</c:v>
                </c:pt>
                <c:pt idx="1">
                  <c:v>BubbleV2</c:v>
                </c:pt>
                <c:pt idx="2">
                  <c:v>SelectV1</c:v>
                </c:pt>
                <c:pt idx="3">
                  <c:v>SelectV2</c:v>
                </c:pt>
                <c:pt idx="4">
                  <c:v>InsertV1</c:v>
                </c:pt>
                <c:pt idx="5">
                  <c:v>InsertV2</c:v>
                </c:pt>
                <c:pt idx="6">
                  <c:v>MergeV1</c:v>
                </c:pt>
                <c:pt idx="7">
                  <c:v>MergeV2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15.8583</c:v>
                </c:pt>
                <c:pt idx="1">
                  <c:v>17.340699999999998</c:v>
                </c:pt>
                <c:pt idx="2">
                  <c:v>8.1329999999999991</c:v>
                </c:pt>
                <c:pt idx="3">
                  <c:v>6.3493000000000004</c:v>
                </c:pt>
                <c:pt idx="4">
                  <c:v>4.774</c:v>
                </c:pt>
                <c:pt idx="5">
                  <c:v>3.794</c:v>
                </c:pt>
                <c:pt idx="6">
                  <c:v>6.7699999999999996E-2</c:v>
                </c:pt>
                <c:pt idx="7">
                  <c:v>1.83E-2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AB-40A3-AF3F-F869199F3EF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7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Seconds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Time (s)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BubbleV1</c:v>
                </c:pt>
                <c:pt idx="1">
                  <c:v>BubbleV2</c:v>
                </c:pt>
                <c:pt idx="2">
                  <c:v>SelectV1</c:v>
                </c:pt>
                <c:pt idx="3">
                  <c:v>SelectV2</c:v>
                </c:pt>
                <c:pt idx="4">
                  <c:v>InsertV1</c:v>
                </c:pt>
                <c:pt idx="5">
                  <c:v>InsertV2</c:v>
                </c:pt>
                <c:pt idx="6">
                  <c:v>MergeV1</c:v>
                </c:pt>
                <c:pt idx="7">
                  <c:v>MergeV2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9.3863000000000003</c:v>
                </c:pt>
                <c:pt idx="1">
                  <c:v>0</c:v>
                </c:pt>
                <c:pt idx="2">
                  <c:v>7.8292999999999999</c:v>
                </c:pt>
                <c:pt idx="3">
                  <c:v>6.6970000000000001</c:v>
                </c:pt>
                <c:pt idx="4">
                  <c:v>2.9999999999999997E-4</c:v>
                </c:pt>
                <c:pt idx="5">
                  <c:v>6.3E-3</c:v>
                </c:pt>
                <c:pt idx="6">
                  <c:v>5.6000000000000001E-2</c:v>
                </c:pt>
                <c:pt idx="7">
                  <c:v>8.6999999999999994E-3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B1-40BC-8EB2-C2A98437E8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7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Seconds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Time (s)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BubbleV1</c:v>
                </c:pt>
                <c:pt idx="1">
                  <c:v>BubbleV2</c:v>
                </c:pt>
                <c:pt idx="2">
                  <c:v>SelectV1</c:v>
                </c:pt>
                <c:pt idx="3">
                  <c:v>SelectV2</c:v>
                </c:pt>
                <c:pt idx="4">
                  <c:v>InsertV1</c:v>
                </c:pt>
                <c:pt idx="5">
                  <c:v>InsertV2</c:v>
                </c:pt>
                <c:pt idx="6">
                  <c:v>MergeV1</c:v>
                </c:pt>
                <c:pt idx="7">
                  <c:v>MergeV2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19.787700000000001</c:v>
                </c:pt>
                <c:pt idx="1">
                  <c:v>17.573</c:v>
                </c:pt>
                <c:pt idx="2">
                  <c:v>5.4557000000000002</c:v>
                </c:pt>
                <c:pt idx="3">
                  <c:v>4.5579999999999998</c:v>
                </c:pt>
                <c:pt idx="4">
                  <c:v>6.8563000000000001</c:v>
                </c:pt>
                <c:pt idx="5">
                  <c:v>5.4142999999999999</c:v>
                </c:pt>
                <c:pt idx="6">
                  <c:v>4.2700000000000002E-2</c:v>
                </c:pt>
                <c:pt idx="7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E-4D33-8FED-E3D08B04BE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7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Seconds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</c:v>
                </c:pt>
              </c:strCache>
            </c:strRef>
          </c:tx>
          <c:spPr>
            <a:ln w="25400" cap="flat">
              <a:solidFill>
                <a:srgbClr val="0F17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172A"/>
              </a:solidFill>
              <a:ln w="9525" cap="flat">
                <a:solidFill>
                  <a:srgbClr val="0F172A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BubbleV1</c:v>
                </c:pt>
                <c:pt idx="1">
                  <c:v>BubbleV2</c:v>
                </c:pt>
                <c:pt idx="2">
                  <c:v>SelectV1</c:v>
                </c:pt>
                <c:pt idx="3">
                  <c:v>SelectV2</c:v>
                </c:pt>
                <c:pt idx="4">
                  <c:v>InsertV1</c:v>
                </c:pt>
                <c:pt idx="5">
                  <c:v>InsertV2</c:v>
                </c:pt>
                <c:pt idx="6">
                  <c:v>MergeV1</c:v>
                </c:pt>
                <c:pt idx="7">
                  <c:v>MergeV2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15.86</c:v>
                </c:pt>
                <c:pt idx="1">
                  <c:v>17.34</c:v>
                </c:pt>
                <c:pt idx="2">
                  <c:v>8.1300000000000008</c:v>
                </c:pt>
                <c:pt idx="3">
                  <c:v>6.35</c:v>
                </c:pt>
                <c:pt idx="4">
                  <c:v>4.7699999999999996</c:v>
                </c:pt>
                <c:pt idx="5">
                  <c:v>3.79</c:v>
                </c:pt>
                <c:pt idx="6">
                  <c:v>7.0000000000000007E-2</c:v>
                </c:pt>
                <c:pt idx="7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DB9-4044-A479-26231EC01A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Sorted Asc</c:v>
                </c:pt>
              </c:strCache>
            </c:strRef>
          </c:tx>
          <c:spPr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BubbleV1</c:v>
                </c:pt>
                <c:pt idx="1">
                  <c:v>BubbleV2</c:v>
                </c:pt>
                <c:pt idx="2">
                  <c:v>SelectV1</c:v>
                </c:pt>
                <c:pt idx="3">
                  <c:v>SelectV2</c:v>
                </c:pt>
                <c:pt idx="4">
                  <c:v>InsertV1</c:v>
                </c:pt>
                <c:pt idx="5">
                  <c:v>InsertV2</c:v>
                </c:pt>
                <c:pt idx="6">
                  <c:v>MergeV1</c:v>
                </c:pt>
                <c:pt idx="7">
                  <c:v>MergeV2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9.39</c:v>
                </c:pt>
                <c:pt idx="1">
                  <c:v>0</c:v>
                </c:pt>
                <c:pt idx="2">
                  <c:v>7.83</c:v>
                </c:pt>
                <c:pt idx="3">
                  <c:v>6.7</c:v>
                </c:pt>
                <c:pt idx="4">
                  <c:v>0</c:v>
                </c:pt>
                <c:pt idx="5">
                  <c:v>0.01</c:v>
                </c:pt>
                <c:pt idx="6">
                  <c:v>0.06</c:v>
                </c:pt>
                <c:pt idx="7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DB9-4044-A479-26231EC01A8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Sorted Desc</c:v>
                </c:pt>
              </c:strCache>
            </c:strRef>
          </c:tx>
          <c:spPr>
            <a:ln w="25400" cap="flat">
              <a:solidFill>
                <a:srgbClr val="6474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4748B"/>
              </a:solidFill>
              <a:ln w="9525" cap="flat">
                <a:solidFill>
                  <a:srgbClr val="64748B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BubbleV1</c:v>
                </c:pt>
                <c:pt idx="1">
                  <c:v>BubbleV2</c:v>
                </c:pt>
                <c:pt idx="2">
                  <c:v>SelectV1</c:v>
                </c:pt>
                <c:pt idx="3">
                  <c:v>SelectV2</c:v>
                </c:pt>
                <c:pt idx="4">
                  <c:v>InsertV1</c:v>
                </c:pt>
                <c:pt idx="5">
                  <c:v>InsertV2</c:v>
                </c:pt>
                <c:pt idx="6">
                  <c:v>MergeV1</c:v>
                </c:pt>
                <c:pt idx="7">
                  <c:v>MergeV2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19.79</c:v>
                </c:pt>
                <c:pt idx="1">
                  <c:v>17.57</c:v>
                </c:pt>
                <c:pt idx="2">
                  <c:v>5.46</c:v>
                </c:pt>
                <c:pt idx="3">
                  <c:v>4.5599999999999996</c:v>
                </c:pt>
                <c:pt idx="4">
                  <c:v>6.86</c:v>
                </c:pt>
                <c:pt idx="5">
                  <c:v>5.41</c:v>
                </c:pt>
                <c:pt idx="6">
                  <c:v>0.04</c:v>
                </c:pt>
                <c:pt idx="7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DB9-4044-A479-26231EC01A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Average Time (seconds)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722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 rot="900000">
            <a:off x="11430000" y="1270000"/>
            <a:ext cx="4699000" cy="4699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1270000" y="2794000"/>
            <a:ext cx="1016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4800" b="1" kern="0" spc="400" dirty="0">
                <a:solidFill>
                  <a:srgbClr val="F8FAF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SORTING ALGORITHMS</a:t>
            </a:r>
            <a:endParaRPr lang="en-US" sz="4800" dirty="0"/>
          </a:p>
          <a:p>
            <a:pPr>
              <a:lnSpc>
                <a:spcPct val="120000"/>
              </a:lnSpc>
            </a:pPr>
            <a:r>
              <a:rPr lang="en-US" sz="4800" b="1" kern="0" spc="400" dirty="0">
                <a:solidFill>
                  <a:srgbClr val="F8FAF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PERFORMANCE ANALYSIS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270000" y="4826000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1270000" y="5080000"/>
            <a:ext cx="762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CSCI 215 — Spring 2026 Project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| Array Size: 100,000 integers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70000" y="78740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Saif Mussa</a:t>
            </a:r>
            <a:r>
              <a:rPr lang="en-US" sz="18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Student ID: </a:t>
            </a:r>
            <a:r>
              <a:rPr lang="en-US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2023006435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70000" y="8509000"/>
            <a:ext cx="13716000" cy="127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1">
            <a:extLst>
              <a:ext uri="{FF2B5EF4-FFF2-40B4-BE49-F238E27FC236}">
                <a16:creationId xmlns:a16="http://schemas.microsoft.com/office/drawing/2014/main" id="{07C38322-8153-EA52-C706-FD4699D55060}"/>
              </a:ext>
            </a:extLst>
          </p:cNvPr>
          <p:cNvSpPr/>
          <p:nvPr/>
        </p:nvSpPr>
        <p:spPr>
          <a:xfrm>
            <a:off x="1038225" y="2095499"/>
            <a:ext cx="14201775" cy="6410325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1270000" y="762000"/>
            <a:ext cx="508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kern="0" spc="4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OVERVIEW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70000" y="1651000"/>
            <a:ext cx="1016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hape 3"/>
          <p:cNvSpPr/>
          <p:nvPr/>
        </p:nvSpPr>
        <p:spPr>
          <a:xfrm>
            <a:off x="1270000" y="2286000"/>
            <a:ext cx="6604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1651000" y="25400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51000" y="3429000"/>
            <a:ext cx="584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Introduction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51000" y="4064000"/>
            <a:ext cx="584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Objectives, methodology, and scope of the sorting performance study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82000" y="2286000"/>
            <a:ext cx="6604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0" name="Text 8"/>
          <p:cNvSpPr/>
          <p:nvPr/>
        </p:nvSpPr>
        <p:spPr>
          <a:xfrm>
            <a:off x="8763000" y="25400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763000" y="3429000"/>
            <a:ext cx="584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Algorithms Overview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763000" y="4064000"/>
            <a:ext cx="584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Baseline V1 implementations and V2 enhanced optimizations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70000" y="5461000"/>
            <a:ext cx="6604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4" name="Text 12"/>
          <p:cNvSpPr/>
          <p:nvPr/>
        </p:nvSpPr>
        <p:spPr>
          <a:xfrm>
            <a:off x="1651000" y="57150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51000" y="6604000"/>
            <a:ext cx="584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Experimental Setup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51000" y="7239000"/>
            <a:ext cx="584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System specifications, input data, and measurement methodology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82000" y="5461000"/>
            <a:ext cx="6604000" cy="279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8763000" y="5715000"/>
            <a:ext cx="101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63000" y="6604000"/>
            <a:ext cx="584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&amp; Analysis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63000" y="7239000"/>
            <a:ext cx="584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Experimental timing data, comparative charts, and complexity analysis</a:t>
            </a:r>
            <a:endParaRPr lang="en-US" sz="1600" dirty="0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33A31FD6-ABAC-D4F9-B560-B5E6D165694C}"/>
              </a:ext>
            </a:extLst>
          </p:cNvPr>
          <p:cNvSpPr/>
          <p:nvPr/>
        </p:nvSpPr>
        <p:spPr>
          <a:xfrm>
            <a:off x="-2044700" y="4854575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ABD07724-1ABA-9F8D-A26F-930C61BBC4C7}"/>
              </a:ext>
            </a:extLst>
          </p:cNvPr>
          <p:cNvSpPr/>
          <p:nvPr/>
        </p:nvSpPr>
        <p:spPr>
          <a:xfrm>
            <a:off x="1203325" y="9372600"/>
            <a:ext cx="13716000" cy="127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>
            <a:off x="11430000" y="2286000"/>
            <a:ext cx="3810000" cy="3810000"/>
          </a:xfrm>
          <a:prstGeom prst="ellipse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1270000" y="2794000"/>
            <a:ext cx="381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0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70000" y="4318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Introduction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70000" y="5334000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270000" y="5715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Objectives, methodology, and scope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Project Objectives &amp; 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hape 3"/>
          <p:cNvSpPr/>
          <p:nvPr/>
        </p:nvSpPr>
        <p:spPr>
          <a:xfrm>
            <a:off x="762000" y="1397000"/>
            <a:ext cx="7112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1016000" y="1524000"/>
            <a:ext cx="660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Objectives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16000" y="2006600"/>
            <a:ext cx="660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Implement </a:t>
            </a:r>
            <a:r>
              <a:rPr lang="en-US" sz="1800" b="1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8 sorting algorithms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(4 baseline + 4 enhanced)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Sort </a:t>
            </a:r>
            <a:r>
              <a:rPr lang="en-US" sz="1800" b="1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100,000 integers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from 3 input files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Measure execution time using &lt;ctime&gt; library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Run </a:t>
            </a:r>
            <a:r>
              <a:rPr lang="en-US" sz="1800" b="1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 independent trials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per algorithm per scenario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Compare </a:t>
            </a:r>
            <a:r>
              <a:rPr lang="en-US" sz="1800" b="1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theoretical complexity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vs. experimental results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Analyze how </a:t>
            </a:r>
            <a:r>
              <a:rPr lang="en-US" sz="1800" b="1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input distribution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affects performance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55000" y="1397000"/>
            <a:ext cx="7239000" cy="355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ext 7"/>
          <p:cNvSpPr/>
          <p:nvPr/>
        </p:nvSpPr>
        <p:spPr>
          <a:xfrm>
            <a:off x="8509000" y="1524000"/>
            <a:ext cx="673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09000" y="2006600"/>
            <a:ext cx="673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 Read arrays from text files into </a:t>
            </a:r>
            <a:r>
              <a:rPr lang="en-US" sz="1800" b="1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heap-allocated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memory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 Use copyArray() to preserve original input per sort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 Record clock() before and after each sort call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 Compute average of 3 runs: (run1+run2+run3)/3.0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5. Print formatted results table with averages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6. Compare V1 vs V2 improvements across all scenarios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62000" y="5207000"/>
            <a:ext cx="147320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1016000" y="5334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Input Scenarios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16000" y="5816600"/>
            <a:ext cx="1422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F59E0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Random Array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randomList.txt: integers in unpredictable order (tests average-case behavior)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F59E0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Sorted Ascending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Sorted.txt: already sorted from 0 to ~200,000 (tests best-case adaptivity)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F59E0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Sorted Descending</a:t>
            </a:r>
            <a:r>
              <a:rPr lang="en-US" sz="1800" dirty="0">
                <a:solidFill>
                  <a:srgbClr val="1E293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— SortedBackwards.txt: reverse sorted from ~200,000 down (tests worst-case stress)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86360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>
            <a:off x="12065000" y="2540000"/>
            <a:ext cx="2540000" cy="2540000"/>
          </a:xfrm>
          <a:prstGeom prst="diamond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1270000" y="2794000"/>
            <a:ext cx="381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0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70000" y="4318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Algorithms Overview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70000" y="5334000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270000" y="5715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Baseline versions and enhanced optimizations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Baseline Algorithms — V1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hape 3"/>
          <p:cNvSpPr/>
          <p:nvPr/>
        </p:nvSpPr>
        <p:spPr>
          <a:xfrm>
            <a:off x="762000" y="1397000"/>
            <a:ext cx="7112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993775" y="15875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50587" y="833"/>
                </a:moveTo>
                <a:cubicBezTo>
                  <a:pt x="238780" y="-2570"/>
                  <a:pt x="226487" y="4306"/>
                  <a:pt x="223083" y="16113"/>
                </a:cubicBezTo>
                <a:lnTo>
                  <a:pt x="134183" y="327263"/>
                </a:lnTo>
                <a:cubicBezTo>
                  <a:pt x="130780" y="339070"/>
                  <a:pt x="137656" y="351363"/>
                  <a:pt x="149463" y="354767"/>
                </a:cubicBezTo>
                <a:cubicBezTo>
                  <a:pt x="161270" y="358170"/>
                  <a:pt x="173563" y="351294"/>
                  <a:pt x="176967" y="339487"/>
                </a:cubicBezTo>
                <a:lnTo>
                  <a:pt x="265867" y="28337"/>
                </a:lnTo>
                <a:cubicBezTo>
                  <a:pt x="269270" y="16530"/>
                  <a:pt x="262394" y="4237"/>
                  <a:pt x="250587" y="833"/>
                </a:cubicBezTo>
                <a:close/>
                <a:moveTo>
                  <a:pt x="295454" y="95359"/>
                </a:moveTo>
                <a:cubicBezTo>
                  <a:pt x="286772" y="104041"/>
                  <a:pt x="286772" y="118140"/>
                  <a:pt x="295454" y="126821"/>
                </a:cubicBezTo>
                <a:lnTo>
                  <a:pt x="346432" y="177800"/>
                </a:lnTo>
                <a:lnTo>
                  <a:pt x="295454" y="228779"/>
                </a:lnTo>
                <a:cubicBezTo>
                  <a:pt x="286772" y="237460"/>
                  <a:pt x="286772" y="251559"/>
                  <a:pt x="295454" y="260241"/>
                </a:cubicBezTo>
                <a:cubicBezTo>
                  <a:pt x="304135" y="268922"/>
                  <a:pt x="318234" y="268922"/>
                  <a:pt x="326916" y="260241"/>
                </a:cubicBezTo>
                <a:lnTo>
                  <a:pt x="393591" y="193566"/>
                </a:lnTo>
                <a:cubicBezTo>
                  <a:pt x="402273" y="184884"/>
                  <a:pt x="402273" y="170785"/>
                  <a:pt x="393591" y="162104"/>
                </a:cubicBezTo>
                <a:lnTo>
                  <a:pt x="326916" y="95429"/>
                </a:lnTo>
                <a:cubicBezTo>
                  <a:pt x="318234" y="86747"/>
                  <a:pt x="304135" y="86747"/>
                  <a:pt x="295454" y="95429"/>
                </a:cubicBezTo>
                <a:close/>
                <a:moveTo>
                  <a:pt x="104666" y="95359"/>
                </a:moveTo>
                <a:cubicBezTo>
                  <a:pt x="95984" y="86678"/>
                  <a:pt x="81885" y="86678"/>
                  <a:pt x="73204" y="95359"/>
                </a:cubicBezTo>
                <a:lnTo>
                  <a:pt x="6529" y="162034"/>
                </a:lnTo>
                <a:cubicBezTo>
                  <a:pt x="-2153" y="170716"/>
                  <a:pt x="-2153" y="184815"/>
                  <a:pt x="6529" y="193496"/>
                </a:cubicBezTo>
                <a:lnTo>
                  <a:pt x="73204" y="260171"/>
                </a:lnTo>
                <a:cubicBezTo>
                  <a:pt x="81885" y="268853"/>
                  <a:pt x="95984" y="268853"/>
                  <a:pt x="104666" y="260171"/>
                </a:cubicBezTo>
                <a:cubicBezTo>
                  <a:pt x="113348" y="251490"/>
                  <a:pt x="113348" y="237391"/>
                  <a:pt x="104666" y="228709"/>
                </a:cubicBezTo>
                <a:lnTo>
                  <a:pt x="53687" y="177800"/>
                </a:lnTo>
                <a:lnTo>
                  <a:pt x="104596" y="126821"/>
                </a:lnTo>
                <a:cubicBezTo>
                  <a:pt x="113278" y="118140"/>
                  <a:pt x="113278" y="104041"/>
                  <a:pt x="104596" y="95359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524000" y="1549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BubbleSort V1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20955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 O(n²) bubble sort. Performs exactly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n-1 passes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regardless of input state. Each pass compares adjacent elements and swaps if out of order.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= O(n²), Avg = O(n²), Worst = O(n²)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early termination  always completes all passes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55000" y="13970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hape 8"/>
          <p:cNvSpPr/>
          <p:nvPr/>
        </p:nvSpPr>
        <p:spPr>
          <a:xfrm>
            <a:off x="8486775" y="15875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50587" y="833"/>
                </a:moveTo>
                <a:cubicBezTo>
                  <a:pt x="238780" y="-2570"/>
                  <a:pt x="226487" y="4306"/>
                  <a:pt x="223083" y="16113"/>
                </a:cubicBezTo>
                <a:lnTo>
                  <a:pt x="134183" y="327263"/>
                </a:lnTo>
                <a:cubicBezTo>
                  <a:pt x="130780" y="339070"/>
                  <a:pt x="137656" y="351363"/>
                  <a:pt x="149463" y="354767"/>
                </a:cubicBezTo>
                <a:cubicBezTo>
                  <a:pt x="161270" y="358170"/>
                  <a:pt x="173563" y="351294"/>
                  <a:pt x="176967" y="339487"/>
                </a:cubicBezTo>
                <a:lnTo>
                  <a:pt x="265867" y="28337"/>
                </a:lnTo>
                <a:cubicBezTo>
                  <a:pt x="269270" y="16530"/>
                  <a:pt x="262394" y="4237"/>
                  <a:pt x="250587" y="833"/>
                </a:cubicBezTo>
                <a:close/>
                <a:moveTo>
                  <a:pt x="295454" y="95359"/>
                </a:moveTo>
                <a:cubicBezTo>
                  <a:pt x="286772" y="104041"/>
                  <a:pt x="286772" y="118140"/>
                  <a:pt x="295454" y="126821"/>
                </a:cubicBezTo>
                <a:lnTo>
                  <a:pt x="346432" y="177800"/>
                </a:lnTo>
                <a:lnTo>
                  <a:pt x="295454" y="228779"/>
                </a:lnTo>
                <a:cubicBezTo>
                  <a:pt x="286772" y="237460"/>
                  <a:pt x="286772" y="251559"/>
                  <a:pt x="295454" y="260241"/>
                </a:cubicBezTo>
                <a:cubicBezTo>
                  <a:pt x="304135" y="268922"/>
                  <a:pt x="318234" y="268922"/>
                  <a:pt x="326916" y="260241"/>
                </a:cubicBezTo>
                <a:lnTo>
                  <a:pt x="393591" y="193566"/>
                </a:lnTo>
                <a:cubicBezTo>
                  <a:pt x="402273" y="184884"/>
                  <a:pt x="402273" y="170785"/>
                  <a:pt x="393591" y="162104"/>
                </a:cubicBezTo>
                <a:lnTo>
                  <a:pt x="326916" y="95429"/>
                </a:lnTo>
                <a:cubicBezTo>
                  <a:pt x="318234" y="86747"/>
                  <a:pt x="304135" y="86747"/>
                  <a:pt x="295454" y="95429"/>
                </a:cubicBezTo>
                <a:close/>
                <a:moveTo>
                  <a:pt x="104666" y="95359"/>
                </a:moveTo>
                <a:cubicBezTo>
                  <a:pt x="95984" y="86678"/>
                  <a:pt x="81885" y="86678"/>
                  <a:pt x="73204" y="95359"/>
                </a:cubicBezTo>
                <a:lnTo>
                  <a:pt x="6529" y="162034"/>
                </a:lnTo>
                <a:cubicBezTo>
                  <a:pt x="-2153" y="170716"/>
                  <a:pt x="-2153" y="184815"/>
                  <a:pt x="6529" y="193496"/>
                </a:cubicBezTo>
                <a:lnTo>
                  <a:pt x="73204" y="260171"/>
                </a:lnTo>
                <a:cubicBezTo>
                  <a:pt x="81885" y="268853"/>
                  <a:pt x="95984" y="268853"/>
                  <a:pt x="104666" y="260171"/>
                </a:cubicBezTo>
                <a:cubicBezTo>
                  <a:pt x="113348" y="251490"/>
                  <a:pt x="113348" y="237391"/>
                  <a:pt x="104666" y="228709"/>
                </a:cubicBezTo>
                <a:lnTo>
                  <a:pt x="53687" y="177800"/>
                </a:lnTo>
                <a:lnTo>
                  <a:pt x="104596" y="126821"/>
                </a:lnTo>
                <a:cubicBezTo>
                  <a:pt x="113278" y="118140"/>
                  <a:pt x="113278" y="104041"/>
                  <a:pt x="104596" y="95359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ext 9"/>
          <p:cNvSpPr/>
          <p:nvPr/>
        </p:nvSpPr>
        <p:spPr>
          <a:xfrm>
            <a:off x="9017000" y="1549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SelectionSort V1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9000" y="2095500"/>
            <a:ext cx="673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Scans the unsorted portion to find the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minimum element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swaps it to its correct position. Always performs n²/2 comparisons.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= O(n²), Avg = O(n²), Worst = O(n²)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Input order has no effect on comparison count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080000"/>
            <a:ext cx="7112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Shape 12"/>
          <p:cNvSpPr/>
          <p:nvPr/>
        </p:nvSpPr>
        <p:spPr>
          <a:xfrm>
            <a:off x="993775" y="52705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50587" y="833"/>
                </a:moveTo>
                <a:cubicBezTo>
                  <a:pt x="238780" y="-2570"/>
                  <a:pt x="226487" y="4306"/>
                  <a:pt x="223083" y="16113"/>
                </a:cubicBezTo>
                <a:lnTo>
                  <a:pt x="134183" y="327263"/>
                </a:lnTo>
                <a:cubicBezTo>
                  <a:pt x="130780" y="339070"/>
                  <a:pt x="137656" y="351363"/>
                  <a:pt x="149463" y="354767"/>
                </a:cubicBezTo>
                <a:cubicBezTo>
                  <a:pt x="161270" y="358170"/>
                  <a:pt x="173563" y="351294"/>
                  <a:pt x="176967" y="339487"/>
                </a:cubicBezTo>
                <a:lnTo>
                  <a:pt x="265867" y="28337"/>
                </a:lnTo>
                <a:cubicBezTo>
                  <a:pt x="269270" y="16530"/>
                  <a:pt x="262394" y="4237"/>
                  <a:pt x="250587" y="833"/>
                </a:cubicBezTo>
                <a:close/>
                <a:moveTo>
                  <a:pt x="295454" y="95359"/>
                </a:moveTo>
                <a:cubicBezTo>
                  <a:pt x="286772" y="104041"/>
                  <a:pt x="286772" y="118140"/>
                  <a:pt x="295454" y="126821"/>
                </a:cubicBezTo>
                <a:lnTo>
                  <a:pt x="346432" y="177800"/>
                </a:lnTo>
                <a:lnTo>
                  <a:pt x="295454" y="228779"/>
                </a:lnTo>
                <a:cubicBezTo>
                  <a:pt x="286772" y="237460"/>
                  <a:pt x="286772" y="251559"/>
                  <a:pt x="295454" y="260241"/>
                </a:cubicBezTo>
                <a:cubicBezTo>
                  <a:pt x="304135" y="268922"/>
                  <a:pt x="318234" y="268922"/>
                  <a:pt x="326916" y="260241"/>
                </a:cubicBezTo>
                <a:lnTo>
                  <a:pt x="393591" y="193566"/>
                </a:lnTo>
                <a:cubicBezTo>
                  <a:pt x="402273" y="184884"/>
                  <a:pt x="402273" y="170785"/>
                  <a:pt x="393591" y="162104"/>
                </a:cubicBezTo>
                <a:lnTo>
                  <a:pt x="326916" y="95429"/>
                </a:lnTo>
                <a:cubicBezTo>
                  <a:pt x="318234" y="86747"/>
                  <a:pt x="304135" y="86747"/>
                  <a:pt x="295454" y="95429"/>
                </a:cubicBezTo>
                <a:close/>
                <a:moveTo>
                  <a:pt x="104666" y="95359"/>
                </a:moveTo>
                <a:cubicBezTo>
                  <a:pt x="95984" y="86678"/>
                  <a:pt x="81885" y="86678"/>
                  <a:pt x="73204" y="95359"/>
                </a:cubicBezTo>
                <a:lnTo>
                  <a:pt x="6529" y="162034"/>
                </a:lnTo>
                <a:cubicBezTo>
                  <a:pt x="-2153" y="170716"/>
                  <a:pt x="-2153" y="184815"/>
                  <a:pt x="6529" y="193496"/>
                </a:cubicBezTo>
                <a:lnTo>
                  <a:pt x="73204" y="260171"/>
                </a:lnTo>
                <a:cubicBezTo>
                  <a:pt x="81885" y="268853"/>
                  <a:pt x="95984" y="268853"/>
                  <a:pt x="104666" y="260171"/>
                </a:cubicBezTo>
                <a:cubicBezTo>
                  <a:pt x="113348" y="251490"/>
                  <a:pt x="113348" y="237391"/>
                  <a:pt x="104666" y="228709"/>
                </a:cubicBezTo>
                <a:lnTo>
                  <a:pt x="53687" y="177800"/>
                </a:lnTo>
                <a:lnTo>
                  <a:pt x="104596" y="126821"/>
                </a:lnTo>
                <a:cubicBezTo>
                  <a:pt x="113278" y="118140"/>
                  <a:pt x="113278" y="104041"/>
                  <a:pt x="104596" y="95359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1524000" y="5232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InsertionSort V1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16000" y="57785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Builds a sorted left portion one element at a time. Shifts larger elements right to make room for the current key.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= O(n), Avg = O(n²), Worst = O(n²)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Adaptive  near-sorted input requires minimal shifts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55000" y="50800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Shape 16"/>
          <p:cNvSpPr/>
          <p:nvPr/>
        </p:nvSpPr>
        <p:spPr>
          <a:xfrm>
            <a:off x="8486775" y="52705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50587" y="833"/>
                </a:moveTo>
                <a:cubicBezTo>
                  <a:pt x="238780" y="-2570"/>
                  <a:pt x="226487" y="4306"/>
                  <a:pt x="223083" y="16113"/>
                </a:cubicBezTo>
                <a:lnTo>
                  <a:pt x="134183" y="327263"/>
                </a:lnTo>
                <a:cubicBezTo>
                  <a:pt x="130780" y="339070"/>
                  <a:pt x="137656" y="351363"/>
                  <a:pt x="149463" y="354767"/>
                </a:cubicBezTo>
                <a:cubicBezTo>
                  <a:pt x="161270" y="358170"/>
                  <a:pt x="173563" y="351294"/>
                  <a:pt x="176967" y="339487"/>
                </a:cubicBezTo>
                <a:lnTo>
                  <a:pt x="265867" y="28337"/>
                </a:lnTo>
                <a:cubicBezTo>
                  <a:pt x="269270" y="16530"/>
                  <a:pt x="262394" y="4237"/>
                  <a:pt x="250587" y="833"/>
                </a:cubicBezTo>
                <a:close/>
                <a:moveTo>
                  <a:pt x="295454" y="95359"/>
                </a:moveTo>
                <a:cubicBezTo>
                  <a:pt x="286772" y="104041"/>
                  <a:pt x="286772" y="118140"/>
                  <a:pt x="295454" y="126821"/>
                </a:cubicBezTo>
                <a:lnTo>
                  <a:pt x="346432" y="177800"/>
                </a:lnTo>
                <a:lnTo>
                  <a:pt x="295454" y="228779"/>
                </a:lnTo>
                <a:cubicBezTo>
                  <a:pt x="286772" y="237460"/>
                  <a:pt x="286772" y="251559"/>
                  <a:pt x="295454" y="260241"/>
                </a:cubicBezTo>
                <a:cubicBezTo>
                  <a:pt x="304135" y="268922"/>
                  <a:pt x="318234" y="268922"/>
                  <a:pt x="326916" y="260241"/>
                </a:cubicBezTo>
                <a:lnTo>
                  <a:pt x="393591" y="193566"/>
                </a:lnTo>
                <a:cubicBezTo>
                  <a:pt x="402273" y="184884"/>
                  <a:pt x="402273" y="170785"/>
                  <a:pt x="393591" y="162104"/>
                </a:cubicBezTo>
                <a:lnTo>
                  <a:pt x="326916" y="95429"/>
                </a:lnTo>
                <a:cubicBezTo>
                  <a:pt x="318234" y="86747"/>
                  <a:pt x="304135" y="86747"/>
                  <a:pt x="295454" y="95429"/>
                </a:cubicBezTo>
                <a:close/>
                <a:moveTo>
                  <a:pt x="104666" y="95359"/>
                </a:moveTo>
                <a:cubicBezTo>
                  <a:pt x="95984" y="86678"/>
                  <a:pt x="81885" y="86678"/>
                  <a:pt x="73204" y="95359"/>
                </a:cubicBezTo>
                <a:lnTo>
                  <a:pt x="6529" y="162034"/>
                </a:lnTo>
                <a:cubicBezTo>
                  <a:pt x="-2153" y="170716"/>
                  <a:pt x="-2153" y="184815"/>
                  <a:pt x="6529" y="193496"/>
                </a:cubicBezTo>
                <a:lnTo>
                  <a:pt x="73204" y="260171"/>
                </a:lnTo>
                <a:cubicBezTo>
                  <a:pt x="81885" y="268853"/>
                  <a:pt x="95984" y="268853"/>
                  <a:pt x="104666" y="260171"/>
                </a:cubicBezTo>
                <a:cubicBezTo>
                  <a:pt x="113348" y="251490"/>
                  <a:pt x="113348" y="237391"/>
                  <a:pt x="104666" y="228709"/>
                </a:cubicBezTo>
                <a:lnTo>
                  <a:pt x="53687" y="177800"/>
                </a:lnTo>
                <a:lnTo>
                  <a:pt x="104596" y="126821"/>
                </a:lnTo>
                <a:cubicBezTo>
                  <a:pt x="113278" y="118140"/>
                  <a:pt x="113278" y="104041"/>
                  <a:pt x="104596" y="95359"/>
                </a:cubicBez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ext 17"/>
          <p:cNvSpPr/>
          <p:nvPr/>
        </p:nvSpPr>
        <p:spPr>
          <a:xfrm>
            <a:off x="9017000" y="5232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 V1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09000" y="5778500"/>
            <a:ext cx="673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Recursive divide-and-conquer. Splits array in half, sorts each half recursively, then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two sorted subarrays using temporary arrays.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= O(n log n), Avg = O(n log n), Worst = O(n log n)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Consistent performance regardless of input order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62000" y="86360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Enhanced Algorithms — V2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hape 3"/>
          <p:cNvSpPr/>
          <p:nvPr/>
        </p:nvSpPr>
        <p:spPr>
          <a:xfrm>
            <a:off x="762000" y="1397000"/>
            <a:ext cx="7112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Shape 4"/>
          <p:cNvSpPr/>
          <p:nvPr/>
        </p:nvSpPr>
        <p:spPr>
          <a:xfrm>
            <a:off x="1016000" y="1587500"/>
            <a:ext cx="1016000" cy="3048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016000" y="15875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Early Exit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22500" y="1549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BubbleSort V2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20955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Adds a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boolean swapped flag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If a complete pass finds no swaps, the array is already sorted and we break immediately.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= O(n), Avg = O(n²), Worst = O(n²)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Dramatic speedup on sorted input; overhead on random data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55000" y="13970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8509000" y="1587500"/>
            <a:ext cx="1270000" cy="3048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8509000" y="1587500"/>
            <a:ext cx="12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Bi-Directional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69500" y="1549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SelectionSort V2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9000" y="2095500"/>
            <a:ext cx="673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Finds both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minimum and maximum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a single scan, placing them at both ends simultaneously. Halves the number of passes.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Still O(n²), but ~50% fewer passes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Consistent improvement across all input types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5080000"/>
            <a:ext cx="7112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Shape 14"/>
          <p:cNvSpPr/>
          <p:nvPr/>
        </p:nvSpPr>
        <p:spPr>
          <a:xfrm>
            <a:off x="1016000" y="5270500"/>
            <a:ext cx="1270000" cy="3048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1016000" y="5270500"/>
            <a:ext cx="12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Binary Search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476500" y="5232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InsertionSort V2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16000" y="57785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Uses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binary search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find the insertion position in O(log n) comparisons instead of O(n). Shifts remain O(n).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= O(n), comparisons = O(n log n), shifts = O(n²)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Faster in practice due to fewer comparisons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55000" y="5080000"/>
            <a:ext cx="7239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1" name="Shape 19"/>
          <p:cNvSpPr/>
          <p:nvPr/>
        </p:nvSpPr>
        <p:spPr>
          <a:xfrm>
            <a:off x="8509000" y="5270500"/>
            <a:ext cx="1016000" cy="3048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2" name="Text 20"/>
          <p:cNvSpPr/>
          <p:nvPr/>
        </p:nvSpPr>
        <p:spPr>
          <a:xfrm>
            <a:off x="8509000" y="5270500"/>
            <a:ext cx="101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Hybrid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715500" y="52324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 V2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509000" y="5778500"/>
            <a:ext cx="6731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Switches to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Insertion Sort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subarrays smaller than threshold = 32 (Timsort strategy). Eliminates recursion overhead on small n.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Complexity: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O(n log n), with ~15–25% speedup in practice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overall performer across all scenarios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2000" y="86360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" name="Text 2"/>
          <p:cNvSpPr/>
          <p:nvPr/>
        </p:nvSpPr>
        <p:spPr>
          <a:xfrm>
            <a:off x="975360" y="0"/>
            <a:ext cx="1219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Implementation: BubbleSortV2</a:t>
            </a:r>
            <a:endParaRPr lang="en-US" sz="4267" dirty="0"/>
          </a:p>
        </p:txBody>
      </p:sp>
      <p:sp>
        <p:nvSpPr>
          <p:cNvPr id="5" name="Shape 3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solidFill>
            <a:srgbClr val="F59E0B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AE" sz="32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11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  →  V2</a:t>
            </a:r>
            <a:endParaRPr lang="en-US" sz="2311" dirty="0"/>
          </a:p>
        </p:txBody>
      </p:sp>
      <p:sp>
        <p:nvSpPr>
          <p:cNvPr id="7" name="Text 5"/>
          <p:cNvSpPr/>
          <p:nvPr/>
        </p:nvSpPr>
        <p:spPr>
          <a:xfrm>
            <a:off x="48768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 (Original)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487680" y="1885696"/>
            <a:ext cx="7233920" cy="3933952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9" name="Text 7"/>
          <p:cNvSpPr/>
          <p:nvPr/>
        </p:nvSpPr>
        <p:spPr>
          <a:xfrm>
            <a:off x="73152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i=0; i&lt;n-1; i++) {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73152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j=0; j&lt;n-i-1; j++) {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73152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(arr[j] &gt; arr[j+1]) {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swap(arr[j], arr[j+1]);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73152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73152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698A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always runs n-1 passes</a:t>
            </a:r>
            <a:endParaRPr lang="en-US" sz="1867" dirty="0">
              <a:solidFill>
                <a:srgbClr val="698A6F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152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7835392" y="3413760"/>
            <a:ext cx="58521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978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978" dirty="0">
              <a:solidFill>
                <a:srgbClr val="F59E0B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53440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 (Improved) — highlighted lines are new</a:t>
            </a:r>
            <a:endParaRPr lang="en-US" sz="2133" dirty="0">
              <a:solidFill>
                <a:srgbClr val="F59E0B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534400" y="1885696"/>
            <a:ext cx="7233920" cy="4795520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0" name="Text 18"/>
          <p:cNvSpPr/>
          <p:nvPr/>
        </p:nvSpPr>
        <p:spPr>
          <a:xfrm>
            <a:off x="877824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i=0; i&lt;n-1; i++) {</a:t>
            </a:r>
            <a:endParaRPr lang="en-US" sz="1867" dirty="0"/>
          </a:p>
        </p:txBody>
      </p:sp>
      <p:sp>
        <p:nvSpPr>
          <p:cNvPr id="21" name="Shape 19"/>
          <p:cNvSpPr/>
          <p:nvPr/>
        </p:nvSpPr>
        <p:spPr>
          <a:xfrm>
            <a:off x="8599424" y="2511552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2" name="Text 20"/>
          <p:cNvSpPr/>
          <p:nvPr/>
        </p:nvSpPr>
        <p:spPr>
          <a:xfrm>
            <a:off x="877824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bool swapped = false;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77824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j=0; j&lt;n-i-1; j++) {</a:t>
            </a:r>
            <a:endParaRPr lang="en-US" sz="1867" dirty="0"/>
          </a:p>
        </p:txBody>
      </p:sp>
      <p:sp>
        <p:nvSpPr>
          <p:cNvPr id="24" name="Text 22"/>
          <p:cNvSpPr/>
          <p:nvPr/>
        </p:nvSpPr>
        <p:spPr>
          <a:xfrm>
            <a:off x="877824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(arr[j] &gt; arr[j+1]) {</a:t>
            </a:r>
            <a:endParaRPr lang="en-US" sz="1867" dirty="0"/>
          </a:p>
        </p:txBody>
      </p:sp>
      <p:sp>
        <p:nvSpPr>
          <p:cNvPr id="25" name="Text 23"/>
          <p:cNvSpPr/>
          <p:nvPr/>
        </p:nvSpPr>
        <p:spPr>
          <a:xfrm>
            <a:off x="877824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swap(arr[j], arr[j+1]);</a:t>
            </a:r>
            <a:endParaRPr lang="en-US" sz="1867" dirty="0"/>
          </a:p>
        </p:txBody>
      </p:sp>
      <p:sp>
        <p:nvSpPr>
          <p:cNvPr id="26" name="Shape 24"/>
          <p:cNvSpPr/>
          <p:nvPr/>
        </p:nvSpPr>
        <p:spPr>
          <a:xfrm>
            <a:off x="8599424" y="4234688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7" name="Text 25"/>
          <p:cNvSpPr/>
          <p:nvPr/>
        </p:nvSpPr>
        <p:spPr>
          <a:xfrm>
            <a:off x="877824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swapped = true;  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877824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867" dirty="0"/>
          </a:p>
        </p:txBody>
      </p:sp>
      <p:sp>
        <p:nvSpPr>
          <p:cNvPr id="29" name="Text 27"/>
          <p:cNvSpPr/>
          <p:nvPr/>
        </p:nvSpPr>
        <p:spPr>
          <a:xfrm>
            <a:off x="877824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30" name="Shape 28"/>
          <p:cNvSpPr/>
          <p:nvPr/>
        </p:nvSpPr>
        <p:spPr>
          <a:xfrm>
            <a:off x="8599424" y="5527040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1" name="Text 29"/>
          <p:cNvSpPr/>
          <p:nvPr/>
        </p:nvSpPr>
        <p:spPr>
          <a:xfrm>
            <a:off x="877824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(!swapped) break; 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8778240" y="595782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33" name="Shape 31"/>
          <p:cNvSpPr/>
          <p:nvPr/>
        </p:nvSpPr>
        <p:spPr>
          <a:xfrm>
            <a:off x="487680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4" name="Shape 32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5" name="Text 33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</a:t>
            </a:r>
            <a:endParaRPr lang="en-US" sz="1956" dirty="0"/>
          </a:p>
        </p:txBody>
      </p:sp>
      <p:sp>
        <p:nvSpPr>
          <p:cNvPr id="36" name="Text 34"/>
          <p:cNvSpPr/>
          <p:nvPr/>
        </p:nvSpPr>
        <p:spPr>
          <a:xfrm>
            <a:off x="650240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boolean flag 'swapped'. After each full pass, if no swap occurred, the array is already sorted   we break immediately.</a:t>
            </a:r>
            <a:endParaRPr lang="en-US" sz="1689" dirty="0"/>
          </a:p>
        </p:txBody>
      </p:sp>
      <p:sp>
        <p:nvSpPr>
          <p:cNvPr id="37" name="Shape 35"/>
          <p:cNvSpPr/>
          <p:nvPr/>
        </p:nvSpPr>
        <p:spPr>
          <a:xfrm>
            <a:off x="5722112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8" name="Shape 36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9" name="Text 37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Works</a:t>
            </a:r>
            <a:endParaRPr lang="en-US" sz="1956" dirty="0"/>
          </a:p>
        </p:txBody>
      </p:sp>
      <p:sp>
        <p:nvSpPr>
          <p:cNvPr id="40" name="Text 38"/>
          <p:cNvSpPr/>
          <p:nvPr/>
        </p:nvSpPr>
        <p:spPr>
          <a:xfrm>
            <a:off x="5884672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swap happens in a pass, every element is already in the right place. There is no point continuing   O(n) best case instead of O(n²).</a:t>
            </a:r>
            <a:endParaRPr lang="en-US" sz="1689" dirty="0"/>
          </a:p>
        </p:txBody>
      </p:sp>
      <p:sp>
        <p:nvSpPr>
          <p:cNvPr id="41" name="Shape 39"/>
          <p:cNvSpPr/>
          <p:nvPr/>
        </p:nvSpPr>
        <p:spPr>
          <a:xfrm>
            <a:off x="10956544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2" name="Shape 40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solidFill>
            <a:srgbClr val="FFB703">
              <a:alpha val="80000"/>
            </a:srgbClr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3" name="Text 41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956" dirty="0"/>
          </a:p>
        </p:txBody>
      </p:sp>
      <p:sp>
        <p:nvSpPr>
          <p:cNvPr id="44" name="Text 42"/>
          <p:cNvSpPr/>
          <p:nvPr/>
        </p:nvSpPr>
        <p:spPr>
          <a:xfrm>
            <a:off x="11119104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sorted ascending input: 0.0000s (instant). BubbleSortV1 took 9.39s on the same data          that's an ∞× improvement on best case.</a:t>
            </a:r>
            <a:endParaRPr lang="en-US" sz="1689" dirty="0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1163A844-995D-D509-26C8-D8F94A8893D7}"/>
              </a:ext>
            </a:extLst>
          </p:cNvPr>
          <p:cNvSpPr/>
          <p:nvPr/>
        </p:nvSpPr>
        <p:spPr>
          <a:xfrm>
            <a:off x="0" y="16256"/>
            <a:ext cx="66675" cy="9127744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AE" sz="3200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" name="Text 2"/>
          <p:cNvSpPr/>
          <p:nvPr/>
        </p:nvSpPr>
        <p:spPr>
          <a:xfrm>
            <a:off x="975360" y="0"/>
            <a:ext cx="1219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Implementation: SelectionSortV2</a:t>
            </a:r>
            <a:endParaRPr lang="en-US" sz="4267" dirty="0"/>
          </a:p>
        </p:txBody>
      </p:sp>
      <p:sp>
        <p:nvSpPr>
          <p:cNvPr id="5" name="Shape 3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solidFill>
            <a:srgbClr val="F59E0B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6" name="Text 4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11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  →  V2</a:t>
            </a:r>
            <a:endParaRPr lang="en-US" sz="2311" dirty="0"/>
          </a:p>
        </p:txBody>
      </p:sp>
      <p:sp>
        <p:nvSpPr>
          <p:cNvPr id="7" name="Text 5"/>
          <p:cNvSpPr/>
          <p:nvPr/>
        </p:nvSpPr>
        <p:spPr>
          <a:xfrm>
            <a:off x="48768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 (Original)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487680" y="1885696"/>
            <a:ext cx="7233920" cy="4364736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9" name="Text 7"/>
          <p:cNvSpPr/>
          <p:nvPr/>
        </p:nvSpPr>
        <p:spPr>
          <a:xfrm>
            <a:off x="73152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i=0; i&lt;n-1; i++) {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73152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minIdx = i;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73152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j=i+1; j&lt;n; j++) {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(arr[j] &lt; arr[minIdx])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minIdx = j;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73152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73152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swap(arr[i], arr[minIdx]);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73152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5FA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n-1 full passes every time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73152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7835392" y="3413760"/>
            <a:ext cx="58521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978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978" dirty="0">
              <a:solidFill>
                <a:srgbClr val="F59E0B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3440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 (Improved) — highlighted lines are new</a:t>
            </a:r>
            <a:endParaRPr lang="en-US" sz="2133" dirty="0">
              <a:solidFill>
                <a:srgbClr val="F59E0B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534400" y="1885696"/>
            <a:ext cx="7233920" cy="4933696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1" name="Shape 19"/>
          <p:cNvSpPr/>
          <p:nvPr/>
        </p:nvSpPr>
        <p:spPr>
          <a:xfrm>
            <a:off x="8599424" y="2080768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2" name="Text 20"/>
          <p:cNvSpPr/>
          <p:nvPr/>
        </p:nvSpPr>
        <p:spPr>
          <a:xfrm>
            <a:off x="877824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left=0, right=n-1;</a:t>
            </a:r>
            <a:endParaRPr lang="en-US" sz="1867" dirty="0"/>
          </a:p>
        </p:txBody>
      </p:sp>
      <p:sp>
        <p:nvSpPr>
          <p:cNvPr id="23" name="Shape 21"/>
          <p:cNvSpPr/>
          <p:nvPr/>
        </p:nvSpPr>
        <p:spPr>
          <a:xfrm>
            <a:off x="8599424" y="2511552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4" name="Text 22"/>
          <p:cNvSpPr/>
          <p:nvPr/>
        </p:nvSpPr>
        <p:spPr>
          <a:xfrm>
            <a:off x="877824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(left &lt; right) {  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877824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minIdx=left, maxIdx=right;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877824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j=left; j&lt;=right; j++) {</a:t>
            </a:r>
            <a:endParaRPr lang="en-US" sz="1867" dirty="0"/>
          </a:p>
        </p:txBody>
      </p:sp>
      <p:sp>
        <p:nvSpPr>
          <p:cNvPr id="27" name="Shape 25"/>
          <p:cNvSpPr/>
          <p:nvPr/>
        </p:nvSpPr>
        <p:spPr>
          <a:xfrm>
            <a:off x="8599424" y="3803904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8" name="Text 26"/>
          <p:cNvSpPr/>
          <p:nvPr/>
        </p:nvSpPr>
        <p:spPr>
          <a:xfrm>
            <a:off x="877824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(arr[j]&lt;arr[minIdx]) minIdx=j;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599424" y="4234688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0" name="Text 28"/>
          <p:cNvSpPr/>
          <p:nvPr/>
        </p:nvSpPr>
        <p:spPr>
          <a:xfrm>
            <a:off x="877824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(arr[j]&gt;arr[maxIdx]) maxIdx=j;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877824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32" name="Text 30"/>
          <p:cNvSpPr/>
          <p:nvPr/>
        </p:nvSpPr>
        <p:spPr>
          <a:xfrm>
            <a:off x="877824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swap(arr[left],  arr[minIdx]);</a:t>
            </a:r>
            <a:endParaRPr lang="en-US" sz="1867" dirty="0"/>
          </a:p>
        </p:txBody>
      </p:sp>
      <p:sp>
        <p:nvSpPr>
          <p:cNvPr id="33" name="Text 31"/>
          <p:cNvSpPr/>
          <p:nvPr/>
        </p:nvSpPr>
        <p:spPr>
          <a:xfrm>
            <a:off x="877824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swap(arr[right], arr[maxIdx]);</a:t>
            </a:r>
            <a:endParaRPr lang="en-US" sz="1867" dirty="0"/>
          </a:p>
        </p:txBody>
      </p:sp>
      <p:sp>
        <p:nvSpPr>
          <p:cNvPr id="34" name="Shape 32"/>
          <p:cNvSpPr/>
          <p:nvPr/>
        </p:nvSpPr>
        <p:spPr>
          <a:xfrm>
            <a:off x="8599424" y="5957824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5" name="Text 33"/>
          <p:cNvSpPr/>
          <p:nvPr/>
        </p:nvSpPr>
        <p:spPr>
          <a:xfrm>
            <a:off x="8778240" y="595782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left++; right--;       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8778240" y="638860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37" name="Shape 35"/>
          <p:cNvSpPr/>
          <p:nvPr/>
        </p:nvSpPr>
        <p:spPr>
          <a:xfrm>
            <a:off x="487680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8" name="Shape 36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9" name="Text 37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</a:t>
            </a:r>
            <a:endParaRPr lang="en-US" sz="1956" dirty="0"/>
          </a:p>
        </p:txBody>
      </p:sp>
      <p:sp>
        <p:nvSpPr>
          <p:cNvPr id="40" name="Text 38"/>
          <p:cNvSpPr/>
          <p:nvPr/>
        </p:nvSpPr>
        <p:spPr>
          <a:xfrm>
            <a:off x="650240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finding only the minimum per pass, we find both minimum AND maximum simultaneously. Place min at left end, max at right end, shrink range from both sides.</a:t>
            </a:r>
            <a:endParaRPr lang="en-US" sz="1689" dirty="0"/>
          </a:p>
        </p:txBody>
      </p:sp>
      <p:sp>
        <p:nvSpPr>
          <p:cNvPr id="41" name="Shape 39"/>
          <p:cNvSpPr/>
          <p:nvPr/>
        </p:nvSpPr>
        <p:spPr>
          <a:xfrm>
            <a:off x="5722112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2" name="Shape 40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3" name="Text 41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Works</a:t>
            </a:r>
            <a:endParaRPr lang="en-US" sz="1956" dirty="0"/>
          </a:p>
        </p:txBody>
      </p:sp>
      <p:sp>
        <p:nvSpPr>
          <p:cNvPr id="44" name="Text 42"/>
          <p:cNvSpPr/>
          <p:nvPr/>
        </p:nvSpPr>
        <p:spPr>
          <a:xfrm>
            <a:off x="5884672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pass does double the useful work   placing 2 elements in their final positions instead of 1. This halves the number of passes needed (n/2 instead of n-1).</a:t>
            </a:r>
            <a:endParaRPr lang="en-US" sz="1689" dirty="0"/>
          </a:p>
        </p:txBody>
      </p:sp>
      <p:sp>
        <p:nvSpPr>
          <p:cNvPr id="45" name="Shape 43"/>
          <p:cNvSpPr/>
          <p:nvPr/>
        </p:nvSpPr>
        <p:spPr>
          <a:xfrm>
            <a:off x="10956544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6" name="Shape 44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7" name="Text 45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956" dirty="0"/>
          </a:p>
        </p:txBody>
      </p:sp>
      <p:sp>
        <p:nvSpPr>
          <p:cNvPr id="48" name="Text 46"/>
          <p:cNvSpPr/>
          <p:nvPr/>
        </p:nvSpPr>
        <p:spPr>
          <a:xfrm>
            <a:off x="11119104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~22% faster across all 3 input types. Random: 8.13s→6.35s. The inner loop still runs the same comparisons, but outer loop iterations are halved.</a:t>
            </a:r>
            <a:endParaRPr lang="en-US" sz="1689" dirty="0"/>
          </a:p>
        </p:txBody>
      </p:sp>
      <p:sp>
        <p:nvSpPr>
          <p:cNvPr id="51" name="Shape 1">
            <a:extLst>
              <a:ext uri="{FF2B5EF4-FFF2-40B4-BE49-F238E27FC236}">
                <a16:creationId xmlns:a16="http://schemas.microsoft.com/office/drawing/2014/main" id="{45991230-875E-3132-36DF-0115D08EE0E4}"/>
              </a:ext>
            </a:extLst>
          </p:cNvPr>
          <p:cNvSpPr/>
          <p:nvPr/>
        </p:nvSpPr>
        <p:spPr>
          <a:xfrm>
            <a:off x="0" y="16256"/>
            <a:ext cx="66675" cy="9127744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AE" sz="3200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" name="Text 2"/>
          <p:cNvSpPr/>
          <p:nvPr/>
        </p:nvSpPr>
        <p:spPr>
          <a:xfrm>
            <a:off x="975360" y="0"/>
            <a:ext cx="1219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Implementation: InsertionSortV2</a:t>
            </a:r>
            <a:endParaRPr lang="en-US" sz="4267" dirty="0"/>
          </a:p>
        </p:txBody>
      </p:sp>
      <p:sp>
        <p:nvSpPr>
          <p:cNvPr id="5" name="Shape 3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solidFill>
            <a:srgbClr val="F59E0B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6" name="Text 4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11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  →  V2</a:t>
            </a:r>
            <a:endParaRPr lang="en-US" sz="2311" dirty="0"/>
          </a:p>
        </p:txBody>
      </p:sp>
      <p:sp>
        <p:nvSpPr>
          <p:cNvPr id="7" name="Text 5"/>
          <p:cNvSpPr/>
          <p:nvPr/>
        </p:nvSpPr>
        <p:spPr>
          <a:xfrm>
            <a:off x="48768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 (Original)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487680" y="1885696"/>
            <a:ext cx="7233920" cy="4795520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9" name="Text 7"/>
          <p:cNvSpPr/>
          <p:nvPr/>
        </p:nvSpPr>
        <p:spPr>
          <a:xfrm>
            <a:off x="73152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i=1; i&lt;n; i++) {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73152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key = arr[i];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73152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j = i - 1;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while (j&gt;=0 &amp;&amp; arr[j]&gt;key) {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arr[j+1] = arr[j];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73152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j--;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73152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73152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arr[j+1] = key;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73152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5FA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always scans backwards fully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731520" y="595782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19" name="Text 17"/>
          <p:cNvSpPr/>
          <p:nvPr/>
        </p:nvSpPr>
        <p:spPr>
          <a:xfrm>
            <a:off x="7835392" y="3413760"/>
            <a:ext cx="58521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978" dirty="0">
                <a:solidFill>
                  <a:srgbClr val="FFB70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978" dirty="0"/>
          </a:p>
        </p:txBody>
      </p:sp>
      <p:sp>
        <p:nvSpPr>
          <p:cNvPr id="20" name="Text 18"/>
          <p:cNvSpPr/>
          <p:nvPr/>
        </p:nvSpPr>
        <p:spPr>
          <a:xfrm>
            <a:off x="853440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 (Improved) — highlighted lines are new</a:t>
            </a:r>
            <a:endParaRPr lang="en-US" sz="2133" dirty="0">
              <a:solidFill>
                <a:srgbClr val="F59E0B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534400" y="1885696"/>
            <a:ext cx="7233920" cy="4795520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2" name="Text 20"/>
          <p:cNvSpPr/>
          <p:nvPr/>
        </p:nvSpPr>
        <p:spPr>
          <a:xfrm>
            <a:off x="877824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i=1; i&lt;n; i++) {</a:t>
            </a:r>
            <a:endParaRPr lang="en-US" sz="1867" dirty="0"/>
          </a:p>
        </p:txBody>
      </p:sp>
      <p:sp>
        <p:nvSpPr>
          <p:cNvPr id="23" name="Shape 21"/>
          <p:cNvSpPr/>
          <p:nvPr/>
        </p:nvSpPr>
        <p:spPr>
          <a:xfrm>
            <a:off x="8599424" y="2511552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4" name="Text 22"/>
          <p:cNvSpPr/>
          <p:nvPr/>
        </p:nvSpPr>
        <p:spPr>
          <a:xfrm>
            <a:off x="877824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(arr[i] &gt;= arr[i-1]) continue;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877824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key = arr[i];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877824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j = i - 1;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877824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while (j&gt;=0 &amp;&amp; arr[j]&gt;key) {</a:t>
            </a:r>
            <a:endParaRPr lang="en-US" sz="1867" dirty="0"/>
          </a:p>
        </p:txBody>
      </p:sp>
      <p:sp>
        <p:nvSpPr>
          <p:cNvPr id="28" name="Text 26"/>
          <p:cNvSpPr/>
          <p:nvPr/>
        </p:nvSpPr>
        <p:spPr>
          <a:xfrm>
            <a:off x="877824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arr[j+1] = arr[j];</a:t>
            </a:r>
            <a:endParaRPr lang="en-US" sz="1867" dirty="0"/>
          </a:p>
        </p:txBody>
      </p:sp>
      <p:sp>
        <p:nvSpPr>
          <p:cNvPr id="29" name="Text 27"/>
          <p:cNvSpPr/>
          <p:nvPr/>
        </p:nvSpPr>
        <p:spPr>
          <a:xfrm>
            <a:off x="877824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j--;</a:t>
            </a:r>
            <a:endParaRPr lang="en-US" sz="1867" dirty="0"/>
          </a:p>
        </p:txBody>
      </p:sp>
      <p:sp>
        <p:nvSpPr>
          <p:cNvPr id="30" name="Text 28"/>
          <p:cNvSpPr/>
          <p:nvPr/>
        </p:nvSpPr>
        <p:spPr>
          <a:xfrm>
            <a:off x="877824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31" name="Text 29"/>
          <p:cNvSpPr/>
          <p:nvPr/>
        </p:nvSpPr>
        <p:spPr>
          <a:xfrm>
            <a:off x="877824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arr[j+1] = key;</a:t>
            </a:r>
            <a:endParaRPr lang="en-US" sz="1867" dirty="0"/>
          </a:p>
        </p:txBody>
      </p:sp>
      <p:sp>
        <p:nvSpPr>
          <p:cNvPr id="32" name="Text 30"/>
          <p:cNvSpPr/>
          <p:nvPr/>
        </p:nvSpPr>
        <p:spPr>
          <a:xfrm>
            <a:off x="8778240" y="595782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33" name="Shape 31"/>
          <p:cNvSpPr/>
          <p:nvPr/>
        </p:nvSpPr>
        <p:spPr>
          <a:xfrm>
            <a:off x="487680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4" name="Shape 32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solidFill>
            <a:srgbClr val="FFB703">
              <a:alpha val="80000"/>
            </a:srgbClr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5" name="Text 33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</a:t>
            </a:r>
            <a:endParaRPr lang="en-US" sz="1956" dirty="0"/>
          </a:p>
        </p:txBody>
      </p:sp>
      <p:sp>
        <p:nvSpPr>
          <p:cNvPr id="36" name="Text 34"/>
          <p:cNvSpPr/>
          <p:nvPr/>
        </p:nvSpPr>
        <p:spPr>
          <a:xfrm>
            <a:off x="650240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single early-exit check: if arr[i] &gt;= arr[i-1], the element is already in the right place   skip the inner while-loop entirely for that element.</a:t>
            </a:r>
            <a:endParaRPr lang="en-US" sz="1689" dirty="0"/>
          </a:p>
        </p:txBody>
      </p:sp>
      <p:sp>
        <p:nvSpPr>
          <p:cNvPr id="37" name="Shape 35"/>
          <p:cNvSpPr/>
          <p:nvPr/>
        </p:nvSpPr>
        <p:spPr>
          <a:xfrm>
            <a:off x="5722112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8" name="Shape 36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9" name="Text 37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Works</a:t>
            </a:r>
            <a:endParaRPr lang="en-US" sz="1956" dirty="0"/>
          </a:p>
        </p:txBody>
      </p:sp>
      <p:sp>
        <p:nvSpPr>
          <p:cNvPr id="40" name="Text 38"/>
          <p:cNvSpPr/>
          <p:nvPr/>
        </p:nvSpPr>
        <p:spPr>
          <a:xfrm>
            <a:off x="5884672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sorted/nearly sorted data, most elements satisfy arr[i]&gt;=arr[i-1]. The inner while loop is never entered. This turns sorted-input runtime from O(n²) to effectively O(n).</a:t>
            </a:r>
            <a:endParaRPr lang="en-US" sz="1689" dirty="0"/>
          </a:p>
        </p:txBody>
      </p:sp>
      <p:sp>
        <p:nvSpPr>
          <p:cNvPr id="41" name="Shape 39"/>
          <p:cNvSpPr/>
          <p:nvPr/>
        </p:nvSpPr>
        <p:spPr>
          <a:xfrm>
            <a:off x="10956544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2" name="Shape 40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3" name="Text 41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956" dirty="0"/>
          </a:p>
        </p:txBody>
      </p:sp>
      <p:sp>
        <p:nvSpPr>
          <p:cNvPr id="44" name="Text 42"/>
          <p:cNvSpPr/>
          <p:nvPr/>
        </p:nvSpPr>
        <p:spPr>
          <a:xfrm>
            <a:off x="11119104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sorted ascending: 0.0003s (V1) → 0.0063s (V2   slightly slower due to extra check on truly sorted). On random: 4.77s→3.79s (20% gain).</a:t>
            </a:r>
            <a:endParaRPr lang="en-US" sz="1689" dirty="0"/>
          </a:p>
        </p:txBody>
      </p:sp>
      <p:sp>
        <p:nvSpPr>
          <p:cNvPr id="45" name="Shape 1">
            <a:extLst>
              <a:ext uri="{FF2B5EF4-FFF2-40B4-BE49-F238E27FC236}">
                <a16:creationId xmlns:a16="http://schemas.microsoft.com/office/drawing/2014/main" id="{FF063295-8388-585F-0877-C07E627B00F2}"/>
              </a:ext>
            </a:extLst>
          </p:cNvPr>
          <p:cNvSpPr/>
          <p:nvPr/>
        </p:nvSpPr>
        <p:spPr>
          <a:xfrm>
            <a:off x="0" y="16256"/>
            <a:ext cx="66675" cy="9127744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AE" sz="3200"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1170432"/>
          </a:xfrm>
          <a:prstGeom prst="rect">
            <a:avLst/>
          </a:prstGeom>
          <a:solidFill>
            <a:srgbClr val="112240"/>
          </a:solidFill>
          <a:ln w="12700">
            <a:solidFill>
              <a:srgbClr val="11224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" name="Text 2"/>
          <p:cNvSpPr/>
          <p:nvPr/>
        </p:nvSpPr>
        <p:spPr>
          <a:xfrm>
            <a:off x="975360" y="0"/>
            <a:ext cx="12192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Implementation: MergeSortV2  —  Hybrid Optimization</a:t>
            </a:r>
            <a:endParaRPr lang="en-US" sz="4267" dirty="0"/>
          </a:p>
        </p:txBody>
      </p:sp>
      <p:sp>
        <p:nvSpPr>
          <p:cNvPr id="5" name="Shape 3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solidFill>
            <a:srgbClr val="F59E0B"/>
          </a:solidFill>
          <a:ln w="12700">
            <a:solidFill>
              <a:srgbClr val="F7258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6" name="Text 4"/>
          <p:cNvSpPr/>
          <p:nvPr/>
        </p:nvSpPr>
        <p:spPr>
          <a:xfrm>
            <a:off x="13086080" y="195072"/>
            <a:ext cx="2926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311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V1  →  V2</a:t>
            </a:r>
            <a:endParaRPr lang="en-US" sz="2311" dirty="0"/>
          </a:p>
        </p:txBody>
      </p:sp>
      <p:sp>
        <p:nvSpPr>
          <p:cNvPr id="7" name="Text 5"/>
          <p:cNvSpPr/>
          <p:nvPr/>
        </p:nvSpPr>
        <p:spPr>
          <a:xfrm>
            <a:off x="48768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889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 (Original)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487680" y="1885696"/>
            <a:ext cx="7233920" cy="4364736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9" name="Text 7"/>
          <p:cNvSpPr/>
          <p:nvPr/>
        </p:nvSpPr>
        <p:spPr>
          <a:xfrm>
            <a:off x="73152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mergeSort(int arr[], int l, int r) {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73152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(l &lt; r) {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73152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m = l + (r-l)/2;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mergeSort(arr, l, m);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mergeSort(arr, m+1, r);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73152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merge(arr, l, m, r);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73152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73152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5FA0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recurses all the way to size=1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73152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7835392" y="3413760"/>
            <a:ext cx="585216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978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978" dirty="0">
              <a:solidFill>
                <a:srgbClr val="F59E0B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34400" y="1332992"/>
            <a:ext cx="723392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 (Improved) — highlighted lines are new</a:t>
            </a:r>
            <a:endParaRPr lang="en-US" sz="2133" dirty="0">
              <a:solidFill>
                <a:srgbClr val="F59E0B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534400" y="1885696"/>
            <a:ext cx="7233920" cy="4933696"/>
          </a:xfrm>
          <a:prstGeom prst="rect">
            <a:avLst/>
          </a:prstGeom>
          <a:solidFill>
            <a:srgbClr val="0A1628"/>
          </a:solidFill>
          <a:ln w="12700">
            <a:solidFill>
              <a:srgbClr val="1A2F5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1" name="Shape 19"/>
          <p:cNvSpPr/>
          <p:nvPr/>
        </p:nvSpPr>
        <p:spPr>
          <a:xfrm>
            <a:off x="8599424" y="2080768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2" name="Text 20"/>
          <p:cNvSpPr/>
          <p:nvPr/>
        </p:nvSpPr>
        <p:spPr>
          <a:xfrm>
            <a:off x="8778240" y="208076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THRESHOLD 32   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778240" y="251155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mergeSort(int arr[], int l, int r) {</a:t>
            </a:r>
            <a:endParaRPr lang="en-US" sz="1867" dirty="0"/>
          </a:p>
        </p:txBody>
      </p:sp>
      <p:sp>
        <p:nvSpPr>
          <p:cNvPr id="24" name="Shape 22"/>
          <p:cNvSpPr/>
          <p:nvPr/>
        </p:nvSpPr>
        <p:spPr>
          <a:xfrm>
            <a:off x="8599424" y="2942336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5" name="Text 23"/>
          <p:cNvSpPr/>
          <p:nvPr/>
        </p:nvSpPr>
        <p:spPr>
          <a:xfrm>
            <a:off x="8778240" y="294233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(r - l &lt; THRESHOLD) {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99424" y="3373120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7" name="Text 25"/>
          <p:cNvSpPr/>
          <p:nvPr/>
        </p:nvSpPr>
        <p:spPr>
          <a:xfrm>
            <a:off x="8778240" y="337312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insertionSort(arr,l,r);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599424" y="3803904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29" name="Text 27"/>
          <p:cNvSpPr/>
          <p:nvPr/>
        </p:nvSpPr>
        <p:spPr>
          <a:xfrm>
            <a:off x="8778240" y="380390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                   </a:t>
            </a:r>
            <a:r>
              <a:rPr lang="en-US" sz="1867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NEW</a:t>
            </a:r>
            <a:endParaRPr lang="en-US" sz="1867" dirty="0">
              <a:solidFill>
                <a:srgbClr val="F59E0B"/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99424" y="4234688"/>
            <a:ext cx="7103872" cy="430784"/>
          </a:xfrm>
          <a:prstGeom prst="rect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1" name="Text 29"/>
          <p:cNvSpPr/>
          <p:nvPr/>
        </p:nvSpPr>
        <p:spPr>
          <a:xfrm>
            <a:off x="8778240" y="423468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E0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867" dirty="0"/>
          </a:p>
        </p:txBody>
      </p:sp>
      <p:sp>
        <p:nvSpPr>
          <p:cNvPr id="32" name="Text 30"/>
          <p:cNvSpPr/>
          <p:nvPr/>
        </p:nvSpPr>
        <p:spPr>
          <a:xfrm>
            <a:off x="8778240" y="4665472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m = l + (r-l)/2;</a:t>
            </a:r>
            <a:endParaRPr lang="en-US" sz="1867" dirty="0"/>
          </a:p>
        </p:txBody>
      </p:sp>
      <p:sp>
        <p:nvSpPr>
          <p:cNvPr id="33" name="Text 31"/>
          <p:cNvSpPr/>
          <p:nvPr/>
        </p:nvSpPr>
        <p:spPr>
          <a:xfrm>
            <a:off x="8778240" y="5096256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mergeSort(arr, l, m);</a:t>
            </a:r>
            <a:endParaRPr lang="en-US" sz="1867" dirty="0"/>
          </a:p>
        </p:txBody>
      </p:sp>
      <p:sp>
        <p:nvSpPr>
          <p:cNvPr id="34" name="Text 32"/>
          <p:cNvSpPr/>
          <p:nvPr/>
        </p:nvSpPr>
        <p:spPr>
          <a:xfrm>
            <a:off x="8778240" y="5527040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mergeSort(arr, m+1, r);</a:t>
            </a:r>
            <a:endParaRPr lang="en-US" sz="1867" dirty="0"/>
          </a:p>
        </p:txBody>
      </p:sp>
      <p:sp>
        <p:nvSpPr>
          <p:cNvPr id="35" name="Text 33"/>
          <p:cNvSpPr/>
          <p:nvPr/>
        </p:nvSpPr>
        <p:spPr>
          <a:xfrm>
            <a:off x="8778240" y="5957824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merge(arr, l, m, r);</a:t>
            </a:r>
            <a:endParaRPr lang="en-US" sz="1867" dirty="0"/>
          </a:p>
        </p:txBody>
      </p:sp>
      <p:sp>
        <p:nvSpPr>
          <p:cNvPr id="36" name="Text 34"/>
          <p:cNvSpPr/>
          <p:nvPr/>
        </p:nvSpPr>
        <p:spPr>
          <a:xfrm>
            <a:off x="8778240" y="6388608"/>
            <a:ext cx="6908800" cy="43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67" dirty="0"/>
          </a:p>
        </p:txBody>
      </p:sp>
      <p:sp>
        <p:nvSpPr>
          <p:cNvPr id="37" name="Shape 35"/>
          <p:cNvSpPr/>
          <p:nvPr/>
        </p:nvSpPr>
        <p:spPr>
          <a:xfrm>
            <a:off x="487680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F7258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8" name="Shape 36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solidFill>
            <a:srgbClr val="F72585">
              <a:alpha val="80000"/>
            </a:srgbClr>
          </a:solidFill>
          <a:ln w="12700">
            <a:solidFill>
              <a:srgbClr val="F72585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39" name="Text 37"/>
          <p:cNvSpPr/>
          <p:nvPr/>
        </p:nvSpPr>
        <p:spPr>
          <a:xfrm>
            <a:off x="487680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</a:t>
            </a:r>
            <a:endParaRPr lang="en-US" sz="1956" dirty="0"/>
          </a:p>
        </p:txBody>
      </p:sp>
      <p:sp>
        <p:nvSpPr>
          <p:cNvPr id="40" name="Text 38"/>
          <p:cNvSpPr/>
          <p:nvPr/>
        </p:nvSpPr>
        <p:spPr>
          <a:xfrm>
            <a:off x="650240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subarray size &lt; 32 elements, stop recursing and run Insertion Sort directly on that small chunk. This is called a Hybrid Sort (used in real-world sorts like Timsort).</a:t>
            </a:r>
            <a:endParaRPr lang="en-US" sz="1689" dirty="0"/>
          </a:p>
        </p:txBody>
      </p:sp>
      <p:sp>
        <p:nvSpPr>
          <p:cNvPr id="41" name="Shape 39"/>
          <p:cNvSpPr/>
          <p:nvPr/>
        </p:nvSpPr>
        <p:spPr>
          <a:xfrm>
            <a:off x="5722112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2" name="Shape 40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solidFill>
            <a:srgbClr val="06D6A0">
              <a:alpha val="80000"/>
            </a:srgbClr>
          </a:solidFill>
          <a:ln w="12700">
            <a:solidFill>
              <a:srgbClr val="06D6A0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3" name="Text 41"/>
          <p:cNvSpPr/>
          <p:nvPr/>
        </p:nvSpPr>
        <p:spPr>
          <a:xfrm>
            <a:off x="5722112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Works</a:t>
            </a:r>
            <a:endParaRPr lang="en-US" sz="1956" dirty="0"/>
          </a:p>
        </p:txBody>
      </p:sp>
      <p:sp>
        <p:nvSpPr>
          <p:cNvPr id="44" name="Text 42"/>
          <p:cNvSpPr/>
          <p:nvPr/>
        </p:nvSpPr>
        <p:spPr>
          <a:xfrm>
            <a:off x="5884672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Sort overhead (recursive calls, temp array allocation) is expensive for tiny arrays. Insertion Sort has low overhead and runs fast on small, nearly-sorted subarrays   which is exactly what recursion produces.</a:t>
            </a:r>
            <a:endParaRPr lang="en-US" sz="1689" dirty="0"/>
          </a:p>
        </p:txBody>
      </p:sp>
      <p:sp>
        <p:nvSpPr>
          <p:cNvPr id="45" name="Shape 43"/>
          <p:cNvSpPr/>
          <p:nvPr/>
        </p:nvSpPr>
        <p:spPr>
          <a:xfrm>
            <a:off x="10956544" y="6957568"/>
            <a:ext cx="4958080" cy="1918208"/>
          </a:xfrm>
          <a:prstGeom prst="rect">
            <a:avLst/>
          </a:prstGeom>
          <a:solidFill>
            <a:srgbClr val="162033"/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6" name="Shape 44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solidFill>
            <a:srgbClr val="FFB703">
              <a:alpha val="80000"/>
            </a:srgbClr>
          </a:solidFill>
          <a:ln w="12700">
            <a:solidFill>
              <a:srgbClr val="FFB703"/>
            </a:solidFill>
            <a:prstDash val="solid"/>
          </a:ln>
        </p:spPr>
        <p:txBody>
          <a:bodyPr/>
          <a:lstStyle/>
          <a:p>
            <a:endParaRPr lang="en-AE" sz="3200"/>
          </a:p>
        </p:txBody>
      </p:sp>
      <p:sp>
        <p:nvSpPr>
          <p:cNvPr id="47" name="Text 45"/>
          <p:cNvSpPr/>
          <p:nvPr/>
        </p:nvSpPr>
        <p:spPr>
          <a:xfrm>
            <a:off x="10956544" y="6957568"/>
            <a:ext cx="4958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6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956" dirty="0"/>
          </a:p>
        </p:txBody>
      </p:sp>
      <p:sp>
        <p:nvSpPr>
          <p:cNvPr id="48" name="Text 46"/>
          <p:cNvSpPr/>
          <p:nvPr/>
        </p:nvSpPr>
        <p:spPr>
          <a:xfrm>
            <a:off x="11119104" y="7510272"/>
            <a:ext cx="463296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89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faster than V1 across all inputs. Random: 0.0677s→0.0183s. This is the same principle behind Python's Timsort and Java's Arrays.sort().</a:t>
            </a:r>
            <a:endParaRPr lang="en-US" sz="1689" dirty="0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A9E2F8BF-4B7B-4B00-FC2C-DDED7019DB24}"/>
              </a:ext>
            </a:extLst>
          </p:cNvPr>
          <p:cNvSpPr/>
          <p:nvPr/>
        </p:nvSpPr>
        <p:spPr>
          <a:xfrm>
            <a:off x="0" y="16256"/>
            <a:ext cx="66675" cy="9127744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AE" sz="3200"/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 rot="-600000">
            <a:off x="11430000" y="1905000"/>
            <a:ext cx="4064000" cy="4064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1270000" y="2794000"/>
            <a:ext cx="381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0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70000" y="4318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Experimental Setup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70000" y="5334000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270000" y="5715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System specifications, input data, and measurement methodology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System Specs &amp; Input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5" name="Shape 3"/>
          <p:cNvSpPr/>
          <p:nvPr/>
        </p:nvSpPr>
        <p:spPr>
          <a:xfrm>
            <a:off x="762000" y="1397000"/>
            <a:ext cx="5080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1016000" y="1524000"/>
            <a:ext cx="457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System Specifications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16000" y="2006600"/>
            <a:ext cx="457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Environment: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C++ with &lt;ctime&gt;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Compiler: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Standard C++ compiler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Measurement: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CPU time (clock_t)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Array Size: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const int SIZE = 100,000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Memory: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Heap allocation (new int[SIZE])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Trials: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3 runs averaged per algorithm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23000" y="1397000"/>
            <a:ext cx="4318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9" name="Text 7"/>
          <p:cNvSpPr/>
          <p:nvPr/>
        </p:nvSpPr>
        <p:spPr>
          <a:xfrm>
            <a:off x="6477000" y="1524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Timing Methodology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77000" y="2006600"/>
            <a:ext cx="3810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clock_t start = clock();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sortFunc(work, SIZE);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clock_t end = clock();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CPU seconds =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(end - start) / CLOCKS_PER_SEC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22000" y="1397000"/>
            <a:ext cx="4572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11176000" y="1524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176000" y="2006600"/>
            <a:ext cx="4064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randomList.txt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100K random integers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Sorted.txt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100K ascending order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SortedBackwards.txt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100K descending order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2000" y="4826000"/>
            <a:ext cx="14732000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1016000" y="49276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Experimental Considerations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16000" y="5308600"/>
            <a:ext cx="14224000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8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Heap Allocation:</a:t>
            </a: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Arrays allocated with new int[SIZE] to avoid stack overflow on 100K elements (per Stack Overflow Error.docx guidance)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8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Fresh Copies:</a:t>
            </a: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copyArray() restores original input before every sort each algorithm receives identical input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8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CPU Time:</a:t>
            </a: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clock() measures process CPU cycles, unaffected by other system processes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8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Same Machine:</a:t>
            </a: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All 8 algorithms tested on identical hardware/software for fair comparison</a:t>
            </a:r>
            <a:endParaRPr lang="en-US" sz="16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8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Output Suppressed:</a:t>
            </a:r>
            <a:r>
              <a:rPr lang="en-US" sz="18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Print functions commented out to prevent I/O from dominating timing results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86360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 rot="600000">
            <a:off x="11176000" y="2032000"/>
            <a:ext cx="4318000" cy="4318000"/>
          </a:xfrm>
          <a:prstGeom prst="roundRect">
            <a:avLst>
              <a:gd name="adj" fmla="val 8000"/>
            </a:avLst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1270000" y="2794000"/>
            <a:ext cx="3810000" cy="12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0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70000" y="4318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&amp; Analysis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70000" y="5334000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7" name="Text 5"/>
          <p:cNvSpPr/>
          <p:nvPr/>
        </p:nvSpPr>
        <p:spPr>
          <a:xfrm>
            <a:off x="1270000" y="57150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Experimental timing data, comparative charts, and complexity analysis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Random Array Results — Average Time (seconds)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graphicFrame>
        <p:nvGraphicFramePr>
          <p:cNvPr id="5" name="Chart 0"/>
          <p:cNvGraphicFramePr/>
          <p:nvPr/>
        </p:nvGraphicFramePr>
        <p:xfrm>
          <a:off x="762000" y="1333500"/>
          <a:ext cx="8890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0033000" y="1333500"/>
            <a:ext cx="5461000" cy="485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ext 4"/>
          <p:cNvSpPr/>
          <p:nvPr/>
        </p:nvSpPr>
        <p:spPr>
          <a:xfrm>
            <a:off x="10287000" y="1460500"/>
            <a:ext cx="495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287000" y="1905000"/>
            <a:ext cx="508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Text 6"/>
          <p:cNvSpPr/>
          <p:nvPr/>
        </p:nvSpPr>
        <p:spPr>
          <a:xfrm>
            <a:off x="10287000" y="2095500"/>
            <a:ext cx="4953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MergeSortV2 wins: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0.0183s   fastest overall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MergeSortV1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still excellent at 0.0677s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BubbleSortV2 slower than V1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on random data (17.34s vs 15.86s)   early exit overhead with no benefit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InsertionSort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best among O(n²): 4.77s (V1), 3.79s (V2)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SelectionSortV2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improves ~22% over V1 via bidirectional scan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O(n log n) algorithms are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100–1000× faster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O(n²) on random data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511450"/>
              </p:ext>
            </p:extLst>
          </p:nvPr>
        </p:nvGraphicFramePr>
        <p:xfrm>
          <a:off x="762000" y="6721477"/>
          <a:ext cx="14732000" cy="2336796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Algorithm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Average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Complexity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BubbleSortV1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20.8170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13.3650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13.3930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15.8583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BubbleSortV2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26.0360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12.9780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13.0080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17.3407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13.6020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5.3820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5.4150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8.1330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10.1410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4.4140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4.4930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6.3493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7.4190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3.4340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3.4690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4.7740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5.9670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2.7210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2.6940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3.7940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MergeSortV1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0.1050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0.0677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 log 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MergeSortV2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0.0260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0.0140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0.0150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0.0183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 log 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62000" y="8501062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Sorted Ascending Results — Average Time (seconds)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graphicFrame>
        <p:nvGraphicFramePr>
          <p:cNvPr id="5" name="Chart 0"/>
          <p:cNvGraphicFramePr/>
          <p:nvPr/>
        </p:nvGraphicFramePr>
        <p:xfrm>
          <a:off x="762000" y="1333500"/>
          <a:ext cx="8890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0033000" y="876304"/>
            <a:ext cx="5461000" cy="5676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ext 4"/>
          <p:cNvSpPr/>
          <p:nvPr/>
        </p:nvSpPr>
        <p:spPr>
          <a:xfrm>
            <a:off x="10287000" y="1003304"/>
            <a:ext cx="495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287000" y="1447804"/>
            <a:ext cx="508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Text 6"/>
          <p:cNvSpPr/>
          <p:nvPr/>
        </p:nvSpPr>
        <p:spPr>
          <a:xfrm>
            <a:off x="10286999" y="1638304"/>
            <a:ext cx="5335293" cy="5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BubbleSortV2 = 0.0000s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detects sorted state in 1 pass (O(n) best case!)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InsertionSortV1 = 0.0003s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already sorted needs zero shifts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BubbleSortV1 still 9.4s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cannot detect sorted state, wastes all passes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SelectionSort unchanged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~7.8s O(n²) regardless of input order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 stable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0.01–0.06s   consistent O(n log n)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Adaptive algorithms (BubbleV2, InsertV1) achieve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near instant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performance on sorted data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207025"/>
              </p:ext>
            </p:extLst>
          </p:nvPr>
        </p:nvGraphicFramePr>
        <p:xfrm>
          <a:off x="762000" y="6715129"/>
          <a:ext cx="14732000" cy="2336796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Algorithm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Average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Complexity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BubbleSortV1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17.0150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5.5350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5.6090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9.3863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BubbleSortV2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12.7810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5.4430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5.2640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7.8293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10.8630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4.6060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4.6220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6.6970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0.0003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0.0063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MergeSortV1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0.0860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0.0420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0.0560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 log 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MergeSortV2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0.0140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0.0087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 log 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62000" y="87884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Sorted Descending Results — Average Time (seconds)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graphicFrame>
        <p:nvGraphicFramePr>
          <p:cNvPr id="5" name="Chart 0"/>
          <p:cNvGraphicFramePr/>
          <p:nvPr/>
        </p:nvGraphicFramePr>
        <p:xfrm>
          <a:off x="762000" y="1333500"/>
          <a:ext cx="8890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0033000" y="628327"/>
            <a:ext cx="5461000" cy="590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Text 4"/>
          <p:cNvSpPr/>
          <p:nvPr/>
        </p:nvSpPr>
        <p:spPr>
          <a:xfrm>
            <a:off x="10287000" y="755327"/>
            <a:ext cx="495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287000" y="1199827"/>
            <a:ext cx="508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9" name="Text 6"/>
          <p:cNvSpPr/>
          <p:nvPr/>
        </p:nvSpPr>
        <p:spPr>
          <a:xfrm>
            <a:off x="10287000" y="1390327"/>
            <a:ext cx="4953000" cy="5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Descending = worst case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BubbleSort: 19.79s (V1), 17.57s (V2)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SelectionSort surprisingly fast: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5.46s (V1)   fewer swaps than Bubble/Insertion on reverse-sorted data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InsertionSort also stressed: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6.86s (V1), 5.41s (V2)   every element must shift to front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MergeSortV2 = 0.0090s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remains fastest and most consistent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MergeSortV1 = 0.0427s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  still ~400× faster than BubbleSortV1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Reverse-sorted is the true stress test  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O(n log n) consistency wins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115062"/>
              </p:ext>
            </p:extLst>
          </p:nvPr>
        </p:nvGraphicFramePr>
        <p:xfrm>
          <a:off x="762000" y="6686227"/>
          <a:ext cx="14732000" cy="2336796"/>
        </p:xfrm>
        <a:graphic>
          <a:graphicData uri="http://schemas.openxmlformats.org/drawingml/2006/table">
            <a:tbl>
              <a:tblPr/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62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Algorithm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Run 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Average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F8FAFC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Complexity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BubbleSortV1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28.3210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15.4710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15.5710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19.7877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BubbleSortV2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23.3610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14.6770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14.6810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17.5730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5.5670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5.5080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5.2920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5.4557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SelectionSortV2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4.5200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4.5230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4.6310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4.5580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6.9360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6.8580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6.7750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6.8563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InsertionSortV2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5.3850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5.4800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5.3780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5.4143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O(n²)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MergeSortV1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0.0420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0.0430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0.0427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 log 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64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MergeSortV2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59E0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0.0090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O(n log n)</a:t>
                      </a:r>
                      <a:endParaRPr lang="en-US" sz="14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62000" y="87884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762000" y="444500"/>
            <a:ext cx="1143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0F172A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Comparative Analysis &amp; 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62000" y="10414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graphicFrame>
        <p:nvGraphicFramePr>
          <p:cNvPr id="5" name="Chart 0"/>
          <p:cNvGraphicFramePr/>
          <p:nvPr/>
        </p:nvGraphicFramePr>
        <p:xfrm>
          <a:off x="762000" y="1333500"/>
          <a:ext cx="14732000" cy="368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5270500"/>
            <a:ext cx="4572000" cy="1714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7" name="Shape 4"/>
          <p:cNvSpPr/>
          <p:nvPr/>
        </p:nvSpPr>
        <p:spPr>
          <a:xfrm>
            <a:off x="762000" y="5270500"/>
            <a:ext cx="50800" cy="1714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5"/>
          <p:cNvSpPr/>
          <p:nvPr/>
        </p:nvSpPr>
        <p:spPr>
          <a:xfrm>
            <a:off x="1016000" y="5397500"/>
            <a:ext cx="4064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Winner: MergeSortV2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Fastest in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3 scenarios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Hybrid strategy delivers consistent speedup.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588000" y="5270500"/>
            <a:ext cx="4572000" cy="1714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0" name="Shape 7"/>
          <p:cNvSpPr/>
          <p:nvPr/>
        </p:nvSpPr>
        <p:spPr>
          <a:xfrm>
            <a:off x="5588000" y="5270500"/>
            <a:ext cx="50800" cy="1714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ext 8"/>
          <p:cNvSpPr/>
          <p:nvPr/>
        </p:nvSpPr>
        <p:spPr>
          <a:xfrm>
            <a:off x="5842000" y="5397500"/>
            <a:ext cx="4064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O(n log n) Dominance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MergeSort is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100–1000× faster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O(n²). Theory predicts reality.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0414000" y="5270500"/>
            <a:ext cx="5080000" cy="1714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3" name="Shape 10"/>
          <p:cNvSpPr/>
          <p:nvPr/>
        </p:nvSpPr>
        <p:spPr>
          <a:xfrm>
            <a:off x="10414000" y="5270500"/>
            <a:ext cx="50800" cy="17145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4" name="Text 11"/>
          <p:cNvSpPr/>
          <p:nvPr/>
        </p:nvSpPr>
        <p:spPr>
          <a:xfrm>
            <a:off x="10668000" y="5397500"/>
            <a:ext cx="4572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Enhancement Impact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BubbleV2 helps sorted only; SelectV2 ~15–20% universally; MergeV2 3–4× faster.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2000" y="7175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F172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Theoretical vs. Experimental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2000" y="7620000"/>
            <a:ext cx="76200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4"/>
          <p:cNvSpPr/>
          <p:nvPr/>
        </p:nvSpPr>
        <p:spPr>
          <a:xfrm>
            <a:off x="762000" y="7810500"/>
            <a:ext cx="14732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O(n log n) holds: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MergeSort (0.009–0.067s) confirms theoretical independence from input order.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O(n²) matches: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BubbleSort worst ≈ 2× average; InsertionSort best validates O(n).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Constant factors: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InsertionSort (4.8s) beats SelectionSort (8.1s)   same class, different constants.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62000" y="8890000"/>
            <a:ext cx="14732000" cy="127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ext 16"/>
          <p:cNvSpPr/>
          <p:nvPr/>
        </p:nvSpPr>
        <p:spPr>
          <a:xfrm>
            <a:off x="14732000" y="8940800"/>
            <a:ext cx="76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800" cy="914400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 rot="-900000">
            <a:off x="10795000" y="1524000"/>
            <a:ext cx="5080000" cy="5080000"/>
          </a:xfrm>
          <a:prstGeom prst="roundRect">
            <a:avLst>
              <a:gd name="adj" fmla="val 8000"/>
            </a:avLst>
          </a:prstGeom>
          <a:solidFill>
            <a:srgbClr val="1E293B">
              <a:alpha val="4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1270000" y="2032000"/>
            <a:ext cx="889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400" b="1" kern="0" spc="4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CONCLUSIONS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270000" y="3302000"/>
            <a:ext cx="1524000" cy="50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1270000" y="3556000"/>
            <a:ext cx="108458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2000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r>
              <a:rPr lang="en-US" sz="20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Asymptotic complexity dominates at scale O(n log n) is indispensable for n = 100,000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r>
              <a:rPr lang="en-US" sz="20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Practical enhancements provide measurable but bounded real-world gains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r>
              <a:rPr lang="en-US" sz="20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Input-aware selection matters adaptive O(n²) algorithms excel on near-sorted data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800"/>
              </a:spcBef>
            </a:pPr>
            <a:r>
              <a:rPr lang="en-US" sz="2000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r>
              <a:rPr lang="en-US" sz="2000" dirty="0">
                <a:solidFill>
                  <a:srgbClr val="F8FAF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Experimental validation confirms theory while revealing constant-factor nuances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70000" y="8077200"/>
            <a:ext cx="508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F59E0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Thank You — Questions?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70000" y="8661400"/>
            <a:ext cx="13716000" cy="127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2848</Words>
  <Application>Microsoft Office PowerPoint</Application>
  <PresentationFormat>Custom</PresentationFormat>
  <Paragraphs>463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Quattrocento Sans</vt:lpstr>
      <vt:lpstr>Consolas</vt:lpstr>
      <vt:lpstr>Trebuchet MS</vt:lpstr>
      <vt:lpstr>Calibri</vt:lpstr>
      <vt:lpstr>QuattrocentoSans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215 — Sorting Algorithms Performance Analysis</dc:title>
  <dc:subject>CSCI 215 — Sorting Algorithms Performance Analysis</dc:subject>
  <dc:creator>Kimi</dc:creator>
  <cp:lastModifiedBy>Saif Mussa 2023006435</cp:lastModifiedBy>
  <cp:revision>4</cp:revision>
  <dcterms:created xsi:type="dcterms:W3CDTF">2026-04-26T02:14:02Z</dcterms:created>
  <dcterms:modified xsi:type="dcterms:W3CDTF">2026-04-26T06:58:32Z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{"Label":"CSCI 215 — Sorting Algorithms Performance Analysis","ContentProducer":"001191110108MACG2KBH8F10000","ProduceID":"19dc7904-8be2-83ac-8000-0000a458f786","ReservedCode1":"","ContentPropagator":"001191110108MACG2KBH8F20000","PropagateID":"19dc7904-8be2-83ac-8000-0000a458f786","ReservedCode2":""}</vt:lpwstr>
  </property>
</Properties>
</file>